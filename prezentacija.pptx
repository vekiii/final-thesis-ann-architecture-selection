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24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3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705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1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0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8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55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2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5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0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D811F12-483E-4868-B07B-F7F160F4BF7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32BA388B-C195-4A33-AA01-AA9A7A05B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7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776498"/>
            <a:ext cx="9966960" cy="2926080"/>
          </a:xfrm>
        </p:spPr>
        <p:txBody>
          <a:bodyPr>
            <a:noAutofit/>
          </a:bodyPr>
          <a:lstStyle/>
          <a:p>
            <a:pPr algn="ctr"/>
            <a:r>
              <a:rPr lang="sr-Cyrl-RS" sz="4400" dirty="0" smtClean="0"/>
              <a:t>ЕМПИРИЈСКИ ПРИСТУП ИЗБОРУ ОПТИМАЛНЕ АРХИТЕКТУРЕ ТРОСЛОЈНЕ ВЕШТАЧКЕ НЕУРОНСКЕ МРЕЖЕ ЗА КЛАСИФИКАЦИЈУ ПОДАТАКА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1028" y="4553027"/>
            <a:ext cx="8767860" cy="1388165"/>
          </a:xfrm>
        </p:spPr>
        <p:txBody>
          <a:bodyPr/>
          <a:lstStyle/>
          <a:p>
            <a:r>
              <a:rPr lang="sr-Cyrl-RS" dirty="0" smtClean="0"/>
              <a:t>Студент: Ведран Митић бр. инд. 18775</a:t>
            </a:r>
          </a:p>
          <a:p>
            <a:r>
              <a:rPr lang="sr-Cyrl-RS" dirty="0" smtClean="0"/>
              <a:t>Ментор: Проф. Др. Мирослав Миловановић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36795" y="3789131"/>
            <a:ext cx="22328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r-Cyrl-RS" sz="2800" dirty="0" smtClean="0">
                <a:solidFill>
                  <a:schemeClr val="bg1"/>
                </a:solidFill>
              </a:rPr>
              <a:t>завршни рад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84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Задатак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 smtClean="0"/>
              <a:t>Неуронска мрежа</a:t>
            </a:r>
          </a:p>
          <a:p>
            <a:r>
              <a:rPr lang="sr-Cyrl-RS" dirty="0" smtClean="0"/>
              <a:t>Препознавање образаца</a:t>
            </a:r>
          </a:p>
          <a:p>
            <a:r>
              <a:rPr lang="sr-Cyrl-RS" dirty="0" smtClean="0"/>
              <a:t>Класификација срчаних болесника</a:t>
            </a:r>
          </a:p>
          <a:p>
            <a:r>
              <a:rPr lang="sr-Cyrl-RS" dirty="0" smtClean="0"/>
              <a:t>Анализа резултата </a:t>
            </a:r>
          </a:p>
          <a:p>
            <a:r>
              <a:rPr lang="sr-Cyrl-RS" dirty="0" smtClean="0"/>
              <a:t>Оптимално решење</a:t>
            </a:r>
          </a:p>
          <a:p>
            <a:r>
              <a:rPr lang="sr-Cyrl-RS" dirty="0" smtClean="0"/>
              <a:t>Даље унапређење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629" y="4321744"/>
            <a:ext cx="4968242" cy="16105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686" y="837440"/>
            <a:ext cx="4228127" cy="31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6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Перцептрон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r-Cyrl-RS" dirty="0" smtClean="0"/>
                  <a:t>1958</a:t>
                </a:r>
                <a:r>
                  <a:rPr lang="sr-Cyrl-RS" dirty="0" smtClean="0"/>
                  <a:t>.</a:t>
                </a:r>
              </a:p>
              <a:p>
                <a:r>
                  <a:rPr lang="sr-Latn-RS" i="1" dirty="0" smtClean="0"/>
                  <a:t>feedforward</a:t>
                </a:r>
                <a:endParaRPr lang="sr-Latn-RS" i="1" dirty="0" smtClean="0"/>
              </a:p>
              <a:p>
                <a:r>
                  <a:rPr lang="en-US" i="1" dirty="0" smtClean="0"/>
                  <a:t>Roseblatt</a:t>
                </a:r>
                <a:r>
                  <a:rPr lang="en-US" i="1" dirty="0" smtClean="0"/>
                  <a:t>-</a:t>
                </a:r>
                <a:r>
                  <a:rPr lang="sr-Cyrl-RS" dirty="0" smtClean="0"/>
                  <a:t>ово правило</a:t>
                </a:r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endParaRPr lang="sr-Cyrl-R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3"/>
          <a:srcRect l="3175" t="2513" r="1272" b="1780"/>
          <a:stretch/>
        </p:blipFill>
        <p:spPr bwMode="auto">
          <a:xfrm>
            <a:off x="5882490" y="1965960"/>
            <a:ext cx="5405986" cy="373219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0383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Cyrl-RS" dirty="0" smtClean="0"/>
              <a:t>Вишеслојна неуронска мрежа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855" t="2303" r="855" b="1611"/>
          <a:stretch/>
        </p:blipFill>
        <p:spPr bwMode="auto">
          <a:xfrm>
            <a:off x="1888673" y="1965960"/>
            <a:ext cx="8384174" cy="41833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793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 err="1" smtClean="0"/>
              <a:t>Backpropagation</a:t>
            </a:r>
            <a:endParaRPr lang="en-US" i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311" t="2400" r="2564" b="2050"/>
          <a:stretch/>
        </p:blipFill>
        <p:spPr bwMode="auto">
          <a:xfrm>
            <a:off x="2018958" y="1965960"/>
            <a:ext cx="8123604" cy="4038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8231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Препознавање образаца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672" t="17221" r="4099" b="4146"/>
          <a:stretch/>
        </p:blipFill>
        <p:spPr>
          <a:xfrm>
            <a:off x="885525" y="2273968"/>
            <a:ext cx="6641432" cy="34169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532" y="609600"/>
            <a:ext cx="1958988" cy="580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0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Класификација срчаних болесника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649" y="1759017"/>
            <a:ext cx="9872871" cy="4038600"/>
          </a:xfrm>
        </p:spPr>
        <p:txBody>
          <a:bodyPr>
            <a:normAutofit lnSpcReduction="10000"/>
          </a:bodyPr>
          <a:lstStyle/>
          <a:p>
            <a:r>
              <a:rPr lang="sr-Cyrl-RS" dirty="0"/>
              <a:t>1319 узорака </a:t>
            </a:r>
          </a:p>
          <a:p>
            <a:r>
              <a:rPr lang="sr-Cyrl-RS" dirty="0" smtClean="0"/>
              <a:t>Улазне карактреристике:</a:t>
            </a:r>
            <a:br>
              <a:rPr lang="sr-Cyrl-RS" dirty="0" smtClean="0"/>
            </a:br>
            <a:r>
              <a:rPr lang="sr-Cyrl-RS" dirty="0" smtClean="0"/>
              <a:t>- Године старости пацијента</a:t>
            </a:r>
            <a:r>
              <a:rPr lang="sr-Cyrl-RS" dirty="0"/>
              <a:t/>
            </a:r>
            <a:br>
              <a:rPr lang="sr-Cyrl-RS" dirty="0"/>
            </a:br>
            <a:r>
              <a:rPr lang="sr-Cyrl-RS" dirty="0" smtClean="0"/>
              <a:t>- Пол</a:t>
            </a:r>
            <a:br>
              <a:rPr lang="sr-Cyrl-RS" dirty="0" smtClean="0"/>
            </a:br>
            <a:r>
              <a:rPr lang="sr-Cyrl-RS" dirty="0" smtClean="0"/>
              <a:t>- Срчани пулс</a:t>
            </a:r>
            <a:br>
              <a:rPr lang="sr-Cyrl-RS" dirty="0" smtClean="0"/>
            </a:br>
            <a:r>
              <a:rPr lang="sr-Cyrl-RS" dirty="0" smtClean="0"/>
              <a:t>- Горња вредност крвног притиска</a:t>
            </a:r>
            <a:br>
              <a:rPr lang="sr-Cyrl-RS" dirty="0" smtClean="0"/>
            </a:br>
            <a:r>
              <a:rPr lang="sr-Cyrl-RS" dirty="0" smtClean="0"/>
              <a:t>- Доња вредност </a:t>
            </a:r>
            <a:r>
              <a:rPr lang="sr-Cyrl-RS" dirty="0"/>
              <a:t>крвног притиска</a:t>
            </a:r>
            <a:r>
              <a:rPr lang="sr-Cyrl-RS" dirty="0" smtClean="0"/>
              <a:t/>
            </a:r>
            <a:br>
              <a:rPr lang="sr-Cyrl-RS" dirty="0" smtClean="0"/>
            </a:br>
            <a:r>
              <a:rPr lang="sr-Cyrl-RS" dirty="0" smtClean="0"/>
              <a:t>- Ниво шећера у крви</a:t>
            </a:r>
            <a:br>
              <a:rPr lang="sr-Cyrl-RS" dirty="0" smtClean="0"/>
            </a:br>
            <a:r>
              <a:rPr lang="sr-Cyrl-RS" dirty="0" smtClean="0"/>
              <a:t>- Ниво креатина у крви</a:t>
            </a:r>
            <a:r>
              <a:rPr lang="sr-Cyrl-RS" dirty="0"/>
              <a:t/>
            </a:r>
            <a:br>
              <a:rPr lang="sr-Cyrl-RS" dirty="0"/>
            </a:br>
            <a:r>
              <a:rPr lang="sr-Cyrl-RS" dirty="0" smtClean="0"/>
              <a:t>- Ниво тропонина – индикатор оштећења срца</a:t>
            </a:r>
          </a:p>
          <a:p>
            <a:r>
              <a:rPr lang="sr-Cyrl-RS" dirty="0" smtClean="0"/>
              <a:t>Излазне карактеристике:</a:t>
            </a:r>
            <a:r>
              <a:rPr lang="sr-Cyrl-RS" dirty="0"/>
              <a:t/>
            </a:r>
            <a:br>
              <a:rPr lang="sr-Cyrl-RS" dirty="0"/>
            </a:br>
            <a:r>
              <a:rPr lang="sr-Cyrl-RS" dirty="0" smtClean="0"/>
              <a:t>- Да (810)</a:t>
            </a:r>
            <a:br>
              <a:rPr lang="sr-Cyrl-RS" dirty="0" smtClean="0"/>
            </a:br>
            <a:r>
              <a:rPr lang="sr-Cyrl-RS" dirty="0" smtClean="0"/>
              <a:t>- Не (509)</a:t>
            </a:r>
          </a:p>
        </p:txBody>
      </p:sp>
    </p:spTree>
    <p:extLst>
      <p:ext uri="{BB962C8B-B14F-4D97-AF65-F5344CB8AC3E}">
        <p14:creationId xmlns:p14="http://schemas.microsoft.com/office/powerpoint/2010/main" val="23746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Cyrl-RS" dirty="0" smtClean="0"/>
              <a:t>Резултати </a:t>
            </a:r>
            <a:r>
              <a:rPr lang="sr-Latn-RS" i="1" dirty="0" smtClean="0"/>
              <a:t>SCG</a:t>
            </a:r>
            <a:r>
              <a:rPr lang="sr-Latn-RS" dirty="0" smtClean="0"/>
              <a:t> </a:t>
            </a:r>
            <a:r>
              <a:rPr lang="sr-Cyrl-RS" dirty="0" smtClean="0"/>
              <a:t>оптимизатора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5857" y="1657952"/>
            <a:ext cx="9872663" cy="216212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 rotWithShape="1">
          <a:blip r:embed="rId3"/>
          <a:srcRect l="3239" t="73864" r="799" b="1172"/>
          <a:stretch/>
        </p:blipFill>
        <p:spPr bwMode="auto">
          <a:xfrm>
            <a:off x="1143000" y="3955984"/>
            <a:ext cx="9875520" cy="25321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2307655" y="1657952"/>
            <a:ext cx="7389655" cy="483022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2307654" y="1666429"/>
            <a:ext cx="7389655" cy="482267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6"/>
          <a:stretch>
            <a:fillRect/>
          </a:stretch>
        </p:blipFill>
        <p:spPr>
          <a:xfrm>
            <a:off x="3018721" y="1657020"/>
            <a:ext cx="6124078" cy="4819963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03544"/>
              </p:ext>
            </p:extLst>
          </p:nvPr>
        </p:nvGraphicFramePr>
        <p:xfrm>
          <a:off x="2194562" y="2061846"/>
          <a:ext cx="7393041" cy="4206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4033"/>
                <a:gridCol w="1346336"/>
                <a:gridCol w="1346336"/>
                <a:gridCol w="1346336"/>
              </a:tblGrid>
              <a:tr h="10516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10. неурона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30. неурона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50. неурона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  <a:tr h="350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Епохе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53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41,7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43,1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  <a:tr h="350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 dirty="0" err="1">
                          <a:effectLst/>
                        </a:rPr>
                        <a:t>Перформанса</a:t>
                      </a:r>
                      <a:endParaRPr lang="en-US" sz="2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0,5031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0,4697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0,4553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  <a:tr h="350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Градијент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0,1179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0,06987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0,0938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  <a:tr h="7011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10. неурона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30. неурона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50. неурона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  <a:tr h="350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Грешка тренинга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23,49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24,51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22,65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  <a:tr h="350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Грешка валидације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21,17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26,58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23,57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  <a:tr h="350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Грешка теста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22,47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25,92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24,9</a:t>
                      </a:r>
                      <a:r>
                        <a:rPr lang="sr-Cyrl-RS" sz="2100" kern="100">
                          <a:effectLst/>
                        </a:rPr>
                        <a:t>0%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  <a:tr h="3505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0">
                          <a:effectLst/>
                        </a:rPr>
                        <a:t>Грешка укупно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23</a:t>
                      </a:r>
                      <a:r>
                        <a:rPr lang="sr-Cyrl-RS" sz="2100" kern="100">
                          <a:effectLst/>
                        </a:rPr>
                        <a:t>,00%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>
                          <a:effectLst/>
                        </a:rPr>
                        <a:t>25,93</a:t>
                      </a:r>
                      <a:r>
                        <a:rPr lang="sr-Cyrl-RS" sz="2100" kern="100">
                          <a:effectLst/>
                        </a:rPr>
                        <a:t>%</a:t>
                      </a:r>
                      <a:endParaRPr lang="en-US" sz="2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100" kern="100" dirty="0">
                          <a:effectLst/>
                        </a:rPr>
                        <a:t>23,12</a:t>
                      </a:r>
                      <a:r>
                        <a:rPr lang="sr-Cyrl-RS" sz="2100" kern="100" dirty="0">
                          <a:effectLst/>
                        </a:rPr>
                        <a:t>%</a:t>
                      </a:r>
                      <a:endParaRPr lang="en-US" sz="2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8082" marR="118082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98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Cyrl-RS" dirty="0"/>
              <a:t>Резултати </a:t>
            </a:r>
            <a:r>
              <a:rPr lang="sr-Latn-RS" i="1" dirty="0" smtClean="0"/>
              <a:t>LM </a:t>
            </a:r>
            <a:r>
              <a:rPr lang="sr-Cyrl-RS" dirty="0" smtClean="0"/>
              <a:t>оптимизатора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599" y="1965960"/>
            <a:ext cx="10898513" cy="281779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2762451" y="1573781"/>
            <a:ext cx="6400799" cy="4883862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3205213" y="1573781"/>
            <a:ext cx="5324274" cy="493280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305638"/>
              </p:ext>
            </p:extLst>
          </p:nvPr>
        </p:nvGraphicFramePr>
        <p:xfrm>
          <a:off x="2377440" y="2119655"/>
          <a:ext cx="7182825" cy="38865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8663"/>
                <a:gridCol w="1308054"/>
                <a:gridCol w="1308054"/>
                <a:gridCol w="1308054"/>
              </a:tblGrid>
              <a:tr h="7066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10. неурона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30. неурона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50. неурона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  <a:tr h="353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Епохе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232,9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90,1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89,1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  <a:tr h="353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Перформанса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0,04722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0,04382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0,1302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  <a:tr h="353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Градијент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0,06626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0,15237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0,1164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  <a:tr h="7066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8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10. неурона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30. неурона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50. неурона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  <a:tr h="353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 err="1">
                          <a:effectLst/>
                        </a:rPr>
                        <a:t>Грешка</a:t>
                      </a:r>
                      <a:r>
                        <a:rPr lang="en-US" sz="2000" kern="0" dirty="0">
                          <a:effectLst/>
                        </a:rPr>
                        <a:t> </a:t>
                      </a:r>
                      <a:r>
                        <a:rPr lang="en-US" sz="2000" kern="0" dirty="0" err="1">
                          <a:effectLst/>
                        </a:rPr>
                        <a:t>тренинга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6,19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4,9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5,05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  <a:tr h="353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Грешка валидације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10,11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12,16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12,4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  <a:tr h="353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 err="1">
                          <a:effectLst/>
                        </a:rPr>
                        <a:t>Грешка</a:t>
                      </a:r>
                      <a:r>
                        <a:rPr lang="en-US" sz="2000" kern="0" dirty="0">
                          <a:effectLst/>
                        </a:rPr>
                        <a:t> </a:t>
                      </a:r>
                      <a:r>
                        <a:rPr lang="en-US" sz="2000" kern="0" dirty="0" err="1">
                          <a:effectLst/>
                        </a:rPr>
                        <a:t>теста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8,34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11,07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14,15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  <a:tr h="353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Грешка укупно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6,1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6,92</a:t>
                      </a:r>
                      <a:r>
                        <a:rPr lang="sr-Cyrl-RS" sz="2000" kern="0">
                          <a:effectLst/>
                        </a:rPr>
                        <a:t>%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7,49</a:t>
                      </a:r>
                      <a:r>
                        <a:rPr lang="sr-Cyrl-RS" sz="2000" kern="0" dirty="0">
                          <a:effectLst/>
                        </a:rPr>
                        <a:t>%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580" marR="11458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08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Анализа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i="1" dirty="0" smtClean="0"/>
              <a:t>SCG vs. LM</a:t>
            </a:r>
          </a:p>
          <a:p>
            <a:r>
              <a:rPr lang="sr-Cyrl-RS" dirty="0" smtClean="0"/>
              <a:t>Оптимална архитектура</a:t>
            </a:r>
          </a:p>
          <a:p>
            <a:r>
              <a:rPr lang="sr-Cyrl-RS" dirty="0" smtClean="0"/>
              <a:t>Експлоатација модела</a:t>
            </a:r>
          </a:p>
          <a:p>
            <a:r>
              <a:rPr lang="sr-Cyrl-RS" dirty="0" smtClean="0"/>
              <a:t>Разноврсност проблема</a:t>
            </a:r>
          </a:p>
          <a:p>
            <a:r>
              <a:rPr lang="sr-Latn-RS" i="1" dirty="0" smtClean="0"/>
              <a:t>Irreducible Error</a:t>
            </a:r>
          </a:p>
          <a:p>
            <a:r>
              <a:rPr lang="sr-Cyrl-RS" dirty="0" smtClean="0"/>
              <a:t>Даље унапређење – </a:t>
            </a:r>
            <a:r>
              <a:rPr lang="sr-Latn-RS" i="1" dirty="0" smtClean="0"/>
              <a:t>Adam,</a:t>
            </a:r>
            <a:r>
              <a:rPr lang="sr-Cyrl-RS" i="1" dirty="0" smtClean="0"/>
              <a:t> </a:t>
            </a:r>
            <a:r>
              <a:rPr lang="sr-Latn-RS" i="1" dirty="0" smtClean="0"/>
              <a:t>Dropout, </a:t>
            </a:r>
            <a:r>
              <a:rPr lang="sr-Cyrl-RS" dirty="0" smtClean="0"/>
              <a:t>Конволуционе мреже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87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573</TotalTime>
  <Words>224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Cambria Math</vt:lpstr>
      <vt:lpstr>Corbel</vt:lpstr>
      <vt:lpstr>Times New Roman</vt:lpstr>
      <vt:lpstr>Basis</vt:lpstr>
      <vt:lpstr>ЕМПИРИЈСКИ ПРИСТУП ИЗБОРУ ОПТИМАЛНЕ АРХИТЕКТУРЕ ТРОСЛОЈНЕ ВЕШТАЧКЕ НЕУРОНСКЕ МРЕЖЕ ЗА КЛАСИФИКАЦИЈУ ПОДАТАКА</vt:lpstr>
      <vt:lpstr>Задатак</vt:lpstr>
      <vt:lpstr>Перцептрон</vt:lpstr>
      <vt:lpstr>Вишеслојна неуронска мрежа</vt:lpstr>
      <vt:lpstr>Backpropagation</vt:lpstr>
      <vt:lpstr>Препознавање образаца</vt:lpstr>
      <vt:lpstr>Класификација срчаних болесника</vt:lpstr>
      <vt:lpstr>Резултати SCG оптимизатора</vt:lpstr>
      <vt:lpstr>Резултати LM оптимизатора</vt:lpstr>
      <vt:lpstr>Анализа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ЕМПИРИЈСКИ ПРИСТУП ИЗБОРУ ОПТИМАЛНЕ АРХИТЕКТУРЕ ТРОСЛОЈНЕ ВЕШТАЧКЕ НЕУРОНСКЕ МРЕЖЕ ЗА КЛАСИФИКАЦИЈУ ПОДАТАКА</dc:title>
  <dc:creator>Microsoft account</dc:creator>
  <cp:lastModifiedBy>Microsoft account</cp:lastModifiedBy>
  <cp:revision>11</cp:revision>
  <dcterms:created xsi:type="dcterms:W3CDTF">2025-10-29T16:21:16Z</dcterms:created>
  <dcterms:modified xsi:type="dcterms:W3CDTF">2025-10-30T21:59:07Z</dcterms:modified>
</cp:coreProperties>
</file>